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Figtree"/>
      <p:regular r:id="rId22"/>
      <p:bold r:id="rId23"/>
      <p:italic r:id="rId24"/>
      <p:boldItalic r:id="rId25"/>
    </p:embeddedFont>
    <p:embeddedFont>
      <p:font typeface="Jost Light"/>
      <p:regular r:id="rId26"/>
      <p:bold r:id="rId27"/>
      <p:italic r:id="rId28"/>
      <p:boldItalic r:id="rId29"/>
    </p:embeddedFont>
    <p:embeddedFont>
      <p:font typeface="Figtree Medium"/>
      <p:regular r:id="rId30"/>
      <p:bold r:id="rId31"/>
      <p:italic r:id="rId32"/>
      <p:boldItalic r:id="rId33"/>
    </p:embeddedFont>
    <p:embeddedFont>
      <p:font typeface="Figtree Light"/>
      <p:regular r:id="rId34"/>
      <p:bold r:id="rId35"/>
      <p:italic r:id="rId36"/>
      <p:boldItalic r:id="rId37"/>
    </p:embeddedFont>
    <p:embeddedFont>
      <p:font typeface="Jost"/>
      <p:regular r:id="rId38"/>
      <p:bold r:id="rId39"/>
      <p:italic r:id="rId40"/>
      <p:boldItalic r:id="rId41"/>
    </p:embeddedFont>
    <p:embeddedFont>
      <p:font typeface="Pacifico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t-italic.fntdata"/><Relationship Id="rId20" Type="http://schemas.openxmlformats.org/officeDocument/2006/relationships/slide" Target="slides/slide15.xml"/><Relationship Id="rId42" Type="http://schemas.openxmlformats.org/officeDocument/2006/relationships/font" Target="fonts/Pacifico-regular.fntdata"/><Relationship Id="rId41" Type="http://schemas.openxmlformats.org/officeDocument/2006/relationships/font" Target="fonts/Jost-boldItalic.fntdata"/><Relationship Id="rId22" Type="http://schemas.openxmlformats.org/officeDocument/2006/relationships/font" Target="fonts/Figtree-regular.fntdata"/><Relationship Id="rId21" Type="http://schemas.openxmlformats.org/officeDocument/2006/relationships/slide" Target="slides/slide16.xml"/><Relationship Id="rId24" Type="http://schemas.openxmlformats.org/officeDocument/2006/relationships/font" Target="fonts/Figtree-italic.fntdata"/><Relationship Id="rId23" Type="http://schemas.openxmlformats.org/officeDocument/2006/relationships/font" Target="fonts/Figtre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Light-regular.fntdata"/><Relationship Id="rId25" Type="http://schemas.openxmlformats.org/officeDocument/2006/relationships/font" Target="fonts/Figtree-boldItalic.fntdata"/><Relationship Id="rId28" Type="http://schemas.openxmlformats.org/officeDocument/2006/relationships/font" Target="fonts/JostLight-italic.fntdata"/><Relationship Id="rId27" Type="http://schemas.openxmlformats.org/officeDocument/2006/relationships/font" Target="fonts/Jost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Medium-bold.fntdata"/><Relationship Id="rId30" Type="http://schemas.openxmlformats.org/officeDocument/2006/relationships/font" Target="fonts/FigtreeMedium-regular.fntdata"/><Relationship Id="rId11" Type="http://schemas.openxmlformats.org/officeDocument/2006/relationships/slide" Target="slides/slide6.xml"/><Relationship Id="rId33" Type="http://schemas.openxmlformats.org/officeDocument/2006/relationships/font" Target="fonts/Figtree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FigtreeMedium-italic.fntdata"/><Relationship Id="rId13" Type="http://schemas.openxmlformats.org/officeDocument/2006/relationships/slide" Target="slides/slide8.xml"/><Relationship Id="rId35" Type="http://schemas.openxmlformats.org/officeDocument/2006/relationships/font" Target="fonts/FigtreeLight-bold.fntdata"/><Relationship Id="rId12" Type="http://schemas.openxmlformats.org/officeDocument/2006/relationships/slide" Target="slides/slide7.xml"/><Relationship Id="rId34" Type="http://schemas.openxmlformats.org/officeDocument/2006/relationships/font" Target="fonts/FigtreeLight-regular.fntdata"/><Relationship Id="rId15" Type="http://schemas.openxmlformats.org/officeDocument/2006/relationships/slide" Target="slides/slide10.xml"/><Relationship Id="rId37" Type="http://schemas.openxmlformats.org/officeDocument/2006/relationships/font" Target="fonts/Figtree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FigtreeLight-italic.fntdata"/><Relationship Id="rId17" Type="http://schemas.openxmlformats.org/officeDocument/2006/relationships/slide" Target="slides/slide12.xml"/><Relationship Id="rId39" Type="http://schemas.openxmlformats.org/officeDocument/2006/relationships/font" Target="fonts/Jost-bold.fntdata"/><Relationship Id="rId16" Type="http://schemas.openxmlformats.org/officeDocument/2006/relationships/slide" Target="slides/slide11.xml"/><Relationship Id="rId38" Type="http://schemas.openxmlformats.org/officeDocument/2006/relationships/font" Target="fonts/Jos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f1a7344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8f1a7344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85cbc2370d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85cbc2370d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f1a734469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8f1a734469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f1a734469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8f1a734469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f1a734469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f1a734469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f1a734469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8f1a734469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8f1a734469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8f1a734469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8f1a734469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8f1a734469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8f1a734469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8f1a734469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44bdc3d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944bdc3d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44bdc3df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44bdc3df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85cbc2370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85cbc2370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85cbc2370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85cbc2370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85cbc2370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85cbc2370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85cbc2370d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85cbc2370d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85cbc2370d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85cbc2370d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AKASH KUMAR</a:t>
            </a:r>
            <a:endParaRPr/>
          </a:p>
        </p:txBody>
      </p:sp>
      <p:sp>
        <p:nvSpPr>
          <p:cNvPr id="439" name="Google Shape;439;p48"/>
          <p:cNvSpPr txBox="1"/>
          <p:nvPr>
            <p:ph idx="1" type="subTitle"/>
          </p:nvPr>
        </p:nvSpPr>
        <p:spPr>
          <a:xfrm>
            <a:off x="3455700" y="817300"/>
            <a:ext cx="4959300" cy="19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latin typeface="Pacifico"/>
                <a:ea typeface="Pacifico"/>
                <a:cs typeface="Pacifico"/>
                <a:sym typeface="Pacifico"/>
              </a:rPr>
              <a:t>RCB IPL STRATEGY</a:t>
            </a:r>
            <a:endParaRPr sz="63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9"/>
          <p:cNvSpPr txBox="1"/>
          <p:nvPr>
            <p:ph type="title"/>
          </p:nvPr>
        </p:nvSpPr>
        <p:spPr>
          <a:xfrm>
            <a:off x="821675" y="1346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9"/>
          <p:cNvSpPr txBox="1"/>
          <p:nvPr>
            <p:ph idx="5" type="title"/>
          </p:nvPr>
        </p:nvSpPr>
        <p:spPr>
          <a:xfrm>
            <a:off x="821675" y="1791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DATA DESCRIPTION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9"/>
          <p:cNvSpPr txBox="1"/>
          <p:nvPr>
            <p:ph idx="6" type="title"/>
          </p:nvPr>
        </p:nvSpPr>
        <p:spPr>
          <a:xfrm>
            <a:off x="821675" y="2236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KEY OBJECTIVES AND MATRICES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9"/>
          <p:cNvSpPr txBox="1"/>
          <p:nvPr>
            <p:ph idx="7" type="title"/>
          </p:nvPr>
        </p:nvSpPr>
        <p:spPr>
          <a:xfrm>
            <a:off x="821675" y="26818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SUGGESTIONS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9"/>
          <p:cNvSpPr txBox="1"/>
          <p:nvPr>
            <p:ph idx="14" type="title"/>
          </p:nvPr>
        </p:nvSpPr>
        <p:spPr>
          <a:xfrm>
            <a:off x="166475" y="2677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04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9"/>
          <p:cNvSpPr txBox="1"/>
          <p:nvPr>
            <p:ph idx="15" type="title"/>
          </p:nvPr>
        </p:nvSpPr>
        <p:spPr>
          <a:xfrm>
            <a:off x="166475" y="2233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03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9"/>
          <p:cNvSpPr txBox="1"/>
          <p:nvPr>
            <p:ph idx="16" type="title"/>
          </p:nvPr>
        </p:nvSpPr>
        <p:spPr>
          <a:xfrm>
            <a:off x="166475" y="1790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02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9"/>
          <p:cNvSpPr txBox="1"/>
          <p:nvPr>
            <p:ph idx="17" type="title"/>
          </p:nvPr>
        </p:nvSpPr>
        <p:spPr>
          <a:xfrm>
            <a:off x="166475" y="1346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01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6175" y="1250200"/>
            <a:ext cx="5437825" cy="306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 txBox="1"/>
          <p:nvPr/>
        </p:nvSpPr>
        <p:spPr>
          <a:xfrm>
            <a:off x="202725" y="1566950"/>
            <a:ext cx="41601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are hired as a sport data analyst by RCB where the team is looking for top-performing and reliable players to win tournaments, considering both on-field performance and value for money in mega player auction of 2017.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task is to come up with strategies/suggestions regarding selecting the best-performing players and optimizing player auction investments.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9" name="Google Shape;459;p50"/>
          <p:cNvSpPr txBox="1"/>
          <p:nvPr/>
        </p:nvSpPr>
        <p:spPr>
          <a:xfrm>
            <a:off x="308325" y="500500"/>
            <a:ext cx="3938400" cy="7497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50"/>
          <p:cNvPicPr preferRelativeResize="0"/>
          <p:nvPr/>
        </p:nvPicPr>
        <p:blipFill rotWithShape="1">
          <a:blip r:embed="rId3">
            <a:alphaModFix/>
          </a:blip>
          <a:srcRect b="-1533" l="0" r="-1978" t="0"/>
          <a:stretch/>
        </p:blipFill>
        <p:spPr>
          <a:xfrm>
            <a:off x="5990900" y="871950"/>
            <a:ext cx="2181225" cy="3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75" y="580800"/>
            <a:ext cx="8425974" cy="45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1"/>
          <p:cNvSpPr txBox="1"/>
          <p:nvPr/>
        </p:nvSpPr>
        <p:spPr>
          <a:xfrm>
            <a:off x="405975" y="0"/>
            <a:ext cx="36111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SCHEMA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2"/>
          <p:cNvSpPr txBox="1"/>
          <p:nvPr/>
        </p:nvSpPr>
        <p:spPr>
          <a:xfrm>
            <a:off x="3907750" y="1725325"/>
            <a:ext cx="43398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ball_by_ball, wicket_taken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In-game performance data.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player, role, player_match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Player profiles and match roles</a:t>
            </a: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b="1"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matches, season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Match metadata and season stats.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team, venue, city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Match context and geography.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2" name="Google Shape;472;p52"/>
          <p:cNvSpPr txBox="1"/>
          <p:nvPr/>
        </p:nvSpPr>
        <p:spPr>
          <a:xfrm>
            <a:off x="3611125" y="8658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TABLES:</a:t>
            </a:r>
            <a:endParaRPr/>
          </a:p>
        </p:txBody>
      </p:sp>
      <p:pic>
        <p:nvPicPr>
          <p:cNvPr id="473" name="Google Shape;4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25" y="865813"/>
            <a:ext cx="2354893" cy="420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 txBox="1"/>
          <p:nvPr/>
        </p:nvSpPr>
        <p:spPr>
          <a:xfrm>
            <a:off x="228600" y="173150"/>
            <a:ext cx="4160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3"/>
          <p:cNvSpPr txBox="1"/>
          <p:nvPr/>
        </p:nvSpPr>
        <p:spPr>
          <a:xfrm>
            <a:off x="456150" y="1112900"/>
            <a:ext cx="8077500" cy="3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Batting Performance Metrics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Total Runs, Strike Rate, Average, 50s/100s Query: Aggregate runs &amp; balls faced from ball_by_ball, grouped by Striker.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Bowling Performance Metrics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Total Wickets, Economy Rate, Bowling Average Query: Count wickets from wicket_taken, calculate economy using ball_by_ball.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Reliability Index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Matches Played, Man of the Match count, Match-winning performances Query: Count of player_match per player + man_of_the_match from matches.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Value for Money (VFM)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Performance metrics vs. cost tier (if no cost data, assume hypothetical tiers).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/>
        </p:nvSpPr>
        <p:spPr>
          <a:xfrm>
            <a:off x="228600" y="108950"/>
            <a:ext cx="4114200" cy="947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i="0" lang="en" sz="30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Season Wise Team Performance</a:t>
            </a:r>
            <a:endParaRPr b="1" sz="8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543100" y="1456700"/>
            <a:ext cx="38592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RCB has shown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mixed results across 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seasons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without clear improvement in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both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batting and bowling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Despite a spike in runs in 2016 (2859), 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the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bowling performance remained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average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leading to overall inconsistency.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contrast, teams like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Sunrisers Hyderabad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showed simultaneous improvement in  both departments.</a:t>
            </a:r>
            <a:endParaRPr sz="1600">
              <a:solidFill>
                <a:schemeClr val="dk1"/>
              </a:solidFill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5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325" y="108950"/>
            <a:ext cx="4311024" cy="24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325" y="2532100"/>
            <a:ext cx="4311024" cy="24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/>
        </p:nvSpPr>
        <p:spPr>
          <a:xfrm>
            <a:off x="1626000" y="336900"/>
            <a:ext cx="5985900" cy="549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 Player(Batsman)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5"/>
          <p:cNvSpPr txBox="1"/>
          <p:nvPr/>
        </p:nvSpPr>
        <p:spPr>
          <a:xfrm>
            <a:off x="665975" y="1801500"/>
            <a:ext cx="3389400" cy="22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RG Sharma, Rahane, Raina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are most consistent player.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RCB should prioritize high average, low variation players like </a:t>
            </a:r>
            <a:r>
              <a:rPr b="1"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Rohit, Rayudu, and Pathan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for reliable top and middle-order stability.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94" name="Google Shape;494;p5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775" y="1506020"/>
            <a:ext cx="4047624" cy="2808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6"/>
          <p:cNvSpPr txBox="1"/>
          <p:nvPr/>
        </p:nvSpPr>
        <p:spPr>
          <a:xfrm>
            <a:off x="1626000" y="336900"/>
            <a:ext cx="5985900" cy="549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 Bowlers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6"/>
          <p:cNvSpPr txBox="1"/>
          <p:nvPr/>
        </p:nvSpPr>
        <p:spPr>
          <a:xfrm>
            <a:off x="707375" y="2084925"/>
            <a:ext cx="3526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49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 Malinga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 Sharma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Bhuvneshwar Kumar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lead in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wickets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variation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making them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dependable strike bowlers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1504075"/>
            <a:ext cx="4605624" cy="2847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/>
          <p:nvPr/>
        </p:nvSpPr>
        <p:spPr>
          <a:xfrm>
            <a:off x="4618950" y="1640850"/>
            <a:ext cx="4426200" cy="25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Players with strike rate above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160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top-tier finishers and impactful in death overs: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 Pandya (186.61)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Explosive all-rounder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 Khan (171.84)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Aggressive lower- order option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 de Villiers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(164.27) &amp;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 Russell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(163.16)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 Morris (160.11)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Power-hitting + bowling option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2210550" y="336900"/>
            <a:ext cx="43143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SUGGESTED BATTERS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5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375" y="1038300"/>
            <a:ext cx="4515938" cy="41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/>
        </p:nvSpPr>
        <p:spPr>
          <a:xfrm>
            <a:off x="2210550" y="336900"/>
            <a:ext cx="43143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SUGGESTED BOWLERS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8"/>
          <p:cNvSpPr txBox="1"/>
          <p:nvPr/>
        </p:nvSpPr>
        <p:spPr>
          <a:xfrm>
            <a:off x="5123150" y="1744500"/>
            <a:ext cx="35583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Performers based on average wickets: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Imran Tahir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(2.21) – Consistent wicket-taker, ideal for middle overs.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JD Unadkat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(2.09) – Strong powerplay and death-over option.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JJ Bumrah &amp; UT Yadav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(2.00) – Reliable strike bowlers across phases.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15" name="Google Shape;515;p5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75" y="1197375"/>
            <a:ext cx="4394976" cy="39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9"/>
          <p:cNvSpPr/>
          <p:nvPr/>
        </p:nvSpPr>
        <p:spPr>
          <a:xfrm>
            <a:off x="228600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1" name="Google Shape;521;p59"/>
          <p:cNvSpPr/>
          <p:nvPr/>
        </p:nvSpPr>
        <p:spPr>
          <a:xfrm>
            <a:off x="2448184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2" name="Google Shape;522;p59"/>
          <p:cNvSpPr/>
          <p:nvPr/>
        </p:nvSpPr>
        <p:spPr>
          <a:xfrm>
            <a:off x="4639254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6830350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4" name="Google Shape;524;p59"/>
          <p:cNvSpPr txBox="1"/>
          <p:nvPr>
            <p:ph idx="3" type="title"/>
          </p:nvPr>
        </p:nvSpPr>
        <p:spPr>
          <a:xfrm>
            <a:off x="290825" y="457200"/>
            <a:ext cx="61311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3000">
                <a:latin typeface="Calibri"/>
                <a:ea typeface="Calibri"/>
                <a:cs typeface="Calibri"/>
                <a:sym typeface="Calibri"/>
              </a:rPr>
              <a:t>Parameters While Selection Of Players</a:t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9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1</a:t>
            </a:r>
            <a:endParaRPr/>
          </a:p>
        </p:txBody>
      </p:sp>
      <p:sp>
        <p:nvSpPr>
          <p:cNvPr id="526" name="Google Shape;526;p59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Strike rate and power hitting for Chinnaswamy high-scoring conditions like KH Pandya, David Miller, David Warner, Morris, Ashish Reddy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9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2</a:t>
            </a:r>
            <a:endParaRPr/>
          </a:p>
        </p:txBody>
      </p:sp>
      <p:sp>
        <p:nvSpPr>
          <p:cNvPr id="528" name="Google Shape;528;p59"/>
          <p:cNvSpPr txBox="1"/>
          <p:nvPr>
            <p:ph idx="9" type="subTitle"/>
          </p:nvPr>
        </p:nvSpPr>
        <p:spPr>
          <a:xfrm>
            <a:off x="2629526" y="390812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Wicket-taking bowlers with death-over control: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JJ Bumrah, Imran Tahir, Adam Zampa ,Jordan, Faulkner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9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3</a:t>
            </a:r>
            <a:endParaRPr/>
          </a:p>
        </p:txBody>
      </p:sp>
      <p:sp>
        <p:nvSpPr>
          <p:cNvPr id="530" name="Google Shape;530;p59"/>
          <p:cNvSpPr txBox="1"/>
          <p:nvPr>
            <p:ph idx="15" type="subTitle"/>
          </p:nvPr>
        </p:nvSpPr>
        <p:spPr>
          <a:xfrm>
            <a:off x="4834863" y="390812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All-rounders who provide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Andre Russell, Pollard, Jadeja, KH Pandya, Bravo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9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4</a:t>
            </a:r>
            <a:endParaRPr/>
          </a:p>
        </p:txBody>
      </p:sp>
      <p:sp>
        <p:nvSpPr>
          <p:cNvPr id="532" name="Google Shape;532;p59"/>
          <p:cNvSpPr txBox="1"/>
          <p:nvPr>
            <p:ph idx="18" type="subTitle"/>
          </p:nvPr>
        </p:nvSpPr>
        <p:spPr>
          <a:xfrm>
            <a:off x="7006588" y="368912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across seasons (low variability)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S Raina, DR Smith,S Dhawan, RG Sharma, VK Kohli, AB De Villiers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/>
          <p:cNvSpPr txBox="1"/>
          <p:nvPr/>
        </p:nvSpPr>
        <p:spPr>
          <a:xfrm>
            <a:off x="2" y="226350"/>
            <a:ext cx="71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5400"/>
              <a:buFont typeface="League Spartan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Contributing High Scoring Matches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8" name="Google Shape;538;p60"/>
          <p:cNvGrpSpPr/>
          <p:nvPr/>
        </p:nvGrpSpPr>
        <p:grpSpPr>
          <a:xfrm>
            <a:off x="228599" y="965075"/>
            <a:ext cx="5911899" cy="3947239"/>
            <a:chOff x="2" y="-16056"/>
            <a:chExt cx="12191997" cy="8140316"/>
          </a:xfrm>
        </p:grpSpPr>
        <p:sp>
          <p:nvSpPr>
            <p:cNvPr id="539" name="Google Shape;539;p60"/>
            <p:cNvSpPr/>
            <p:nvPr/>
          </p:nvSpPr>
          <p:spPr>
            <a:xfrm rot="5400000">
              <a:off x="-257100" y="260990"/>
              <a:ext cx="1714500" cy="12000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12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2"/>
            </a:p>
          </p:txBody>
        </p:sp>
        <p:sp>
          <p:nvSpPr>
            <p:cNvPr id="540" name="Google Shape;540;p60"/>
            <p:cNvSpPr txBox="1"/>
            <p:nvPr/>
          </p:nvSpPr>
          <p:spPr>
            <a:xfrm>
              <a:off x="2" y="603815"/>
              <a:ext cx="120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0" lIns="2150" spcFirstLastPara="1" rIns="2150" wrap="square" tIns="2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119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119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119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60"/>
            <p:cNvSpPr/>
            <p:nvPr/>
          </p:nvSpPr>
          <p:spPr>
            <a:xfrm rot="5400000">
              <a:off x="6138899" y="-4934859"/>
              <a:ext cx="1114500" cy="10991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12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0"/>
            <p:cNvSpPr txBox="1"/>
            <p:nvPr/>
          </p:nvSpPr>
          <p:spPr>
            <a:xfrm>
              <a:off x="1200148" y="-16056"/>
              <a:ext cx="10991700" cy="11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" lIns="89675" spcFirstLastPara="1" rIns="8000" wrap="square" tIns="8000">
              <a:noAutofit/>
            </a:bodyPr>
            <a:lstStyle/>
            <a:p>
              <a:pPr indent="-110843" lvl="1" marL="11084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Calibri"/>
                <a:buChar char="•"/>
              </a:pPr>
              <a:r>
                <a:rPr b="1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Flat Pitches and Small boundaries : M Chinnaswamy Stadium (Bangalore),Wankhede Stadium (Mumbai)</a:t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60"/>
            <p:cNvSpPr/>
            <p:nvPr/>
          </p:nvSpPr>
          <p:spPr>
            <a:xfrm rot="5400000">
              <a:off x="-257100" y="1862495"/>
              <a:ext cx="1714500" cy="12000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12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2"/>
            </a:p>
          </p:txBody>
        </p:sp>
        <p:sp>
          <p:nvSpPr>
            <p:cNvPr id="544" name="Google Shape;544;p60"/>
            <p:cNvSpPr txBox="1"/>
            <p:nvPr/>
          </p:nvSpPr>
          <p:spPr>
            <a:xfrm>
              <a:off x="2" y="2205320"/>
              <a:ext cx="120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0" lIns="2150" spcFirstLastPara="1" rIns="2150" wrap="square" tIns="2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60"/>
            <p:cNvSpPr/>
            <p:nvPr/>
          </p:nvSpPr>
          <p:spPr>
            <a:xfrm rot="5400000">
              <a:off x="6138899" y="-3333354"/>
              <a:ext cx="1114500" cy="10991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12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0"/>
            <p:cNvSpPr txBox="1"/>
            <p:nvPr/>
          </p:nvSpPr>
          <p:spPr>
            <a:xfrm>
              <a:off x="1200148" y="1659651"/>
              <a:ext cx="10991700" cy="100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8000" lIns="89675" spcFirstLastPara="1" rIns="8000" wrap="square" tIns="8000">
              <a:noAutofit/>
            </a:bodyPr>
            <a:lstStyle/>
            <a:p>
              <a:pPr indent="-110843" lvl="1" marL="11084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Arial"/>
                <a:buChar char="•"/>
              </a:pPr>
              <a:r>
                <a:rPr b="1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Improved Batting Skills: </a:t>
              </a:r>
              <a:r>
                <a:rPr b="0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Modern batters are well-equipped with innovative shots (like scoops, ramps, reverse sweeps) and aggressive intent from ball one.</a:t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0"/>
            <p:cNvSpPr/>
            <p:nvPr/>
          </p:nvSpPr>
          <p:spPr>
            <a:xfrm rot="5400000">
              <a:off x="-257100" y="3464000"/>
              <a:ext cx="1714500" cy="12000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12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2"/>
            </a:p>
          </p:txBody>
        </p:sp>
        <p:sp>
          <p:nvSpPr>
            <p:cNvPr id="548" name="Google Shape;548;p60"/>
            <p:cNvSpPr txBox="1"/>
            <p:nvPr/>
          </p:nvSpPr>
          <p:spPr>
            <a:xfrm>
              <a:off x="2" y="3806825"/>
              <a:ext cx="120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0" lIns="2150" spcFirstLastPara="1" rIns="2150" wrap="square" tIns="2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60"/>
            <p:cNvSpPr/>
            <p:nvPr/>
          </p:nvSpPr>
          <p:spPr>
            <a:xfrm rot="5400000">
              <a:off x="6138899" y="-1731849"/>
              <a:ext cx="1114500" cy="10991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12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0"/>
            <p:cNvSpPr txBox="1"/>
            <p:nvPr/>
          </p:nvSpPr>
          <p:spPr>
            <a:xfrm>
              <a:off x="1200148" y="3261166"/>
              <a:ext cx="10552500" cy="10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" lIns="89675" spcFirstLastPara="1" rIns="8000" wrap="square" tIns="8000">
              <a:noAutofit/>
            </a:bodyPr>
            <a:lstStyle/>
            <a:p>
              <a:pPr indent="-110843" lvl="1" marL="11084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Calibri"/>
                <a:buChar char="•"/>
              </a:pPr>
              <a:r>
                <a:rPr b="1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Powerplay Advantage : </a:t>
              </a:r>
              <a:r>
                <a:rPr b="0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only two fielders allowed outside the circle in the first 6 overs, teams look to maximize the scoring early.</a:t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60"/>
            <p:cNvSpPr/>
            <p:nvPr/>
          </p:nvSpPr>
          <p:spPr>
            <a:xfrm rot="5400000">
              <a:off x="-257100" y="5065505"/>
              <a:ext cx="1714500" cy="12000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12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2"/>
            </a:p>
          </p:txBody>
        </p:sp>
        <p:sp>
          <p:nvSpPr>
            <p:cNvPr id="552" name="Google Shape;552;p60"/>
            <p:cNvSpPr txBox="1"/>
            <p:nvPr/>
          </p:nvSpPr>
          <p:spPr>
            <a:xfrm>
              <a:off x="2" y="5408330"/>
              <a:ext cx="120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0" lIns="2150" spcFirstLastPara="1" rIns="2150" wrap="square" tIns="2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60"/>
            <p:cNvSpPr/>
            <p:nvPr/>
          </p:nvSpPr>
          <p:spPr>
            <a:xfrm rot="5400000">
              <a:off x="6138899" y="-130344"/>
              <a:ext cx="1114500" cy="10991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12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0"/>
            <p:cNvSpPr txBox="1"/>
            <p:nvPr/>
          </p:nvSpPr>
          <p:spPr>
            <a:xfrm>
              <a:off x="1200148" y="4862682"/>
              <a:ext cx="10991700" cy="10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" lIns="89675" spcFirstLastPara="1" rIns="8000" wrap="square" tIns="8000">
              <a:noAutofit/>
            </a:bodyPr>
            <a:lstStyle/>
            <a:p>
              <a:pPr indent="-110843" lvl="1" marL="11084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Arial"/>
                <a:buChar char="•"/>
              </a:pPr>
              <a:r>
                <a:rPr b="1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Strong Batting Lineups: </a:t>
              </a:r>
              <a:r>
                <a:rPr b="0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Till number 8 or 9 </a:t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789" lvl="1" marL="110843" marR="0" rtl="0" algn="l">
                <a:lnSpc>
                  <a:spcPct val="90000"/>
                </a:lnSpc>
                <a:spcBef>
                  <a:spcPts val="189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Calibri"/>
                <a:buNone/>
              </a:pPr>
              <a:r>
                <a:t/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60"/>
            <p:cNvSpPr/>
            <p:nvPr/>
          </p:nvSpPr>
          <p:spPr>
            <a:xfrm rot="5400000">
              <a:off x="-257100" y="6667010"/>
              <a:ext cx="1714500" cy="12000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12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2"/>
            </a:p>
          </p:txBody>
        </p:sp>
        <p:sp>
          <p:nvSpPr>
            <p:cNvPr id="556" name="Google Shape;556;p60"/>
            <p:cNvSpPr txBox="1"/>
            <p:nvPr/>
          </p:nvSpPr>
          <p:spPr>
            <a:xfrm>
              <a:off x="2" y="7009835"/>
              <a:ext cx="120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0" lIns="2150" spcFirstLastPara="1" rIns="2150" wrap="square" tIns="2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9"/>
                <a:buFont typeface="Calibri"/>
                <a:buNone/>
              </a:pPr>
              <a:r>
                <a:t/>
              </a:r>
              <a:endParaRPr sz="3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60"/>
            <p:cNvSpPr/>
            <p:nvPr/>
          </p:nvSpPr>
          <p:spPr>
            <a:xfrm rot="5400000">
              <a:off x="6138899" y="1471160"/>
              <a:ext cx="1114500" cy="10991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12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0"/>
            <p:cNvSpPr txBox="1"/>
            <p:nvPr/>
          </p:nvSpPr>
          <p:spPr>
            <a:xfrm>
              <a:off x="1200148" y="6464146"/>
              <a:ext cx="10991700" cy="10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" lIns="89675" spcFirstLastPara="1" rIns="8000" wrap="square" tIns="8000">
              <a:noAutofit/>
            </a:bodyPr>
            <a:lstStyle/>
            <a:p>
              <a:pPr indent="-110843" lvl="1" marL="11084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Arial"/>
                <a:buChar char="•"/>
              </a:pPr>
              <a:r>
                <a:rPr b="1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Dew Factor : </a:t>
              </a:r>
              <a:r>
                <a:rPr b="0" i="0" lang="en" sz="12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night games, dew makes it difficult for bowlers to grip the ball, especially spinners, leading to higher scores in the second innings</a:t>
              </a:r>
              <a:endParaRPr b="0" i="0" sz="12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6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300" y="1152425"/>
            <a:ext cx="6080700" cy="39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1"/>
          <p:cNvSpPr txBox="1"/>
          <p:nvPr/>
        </p:nvSpPr>
        <p:spPr>
          <a:xfrm>
            <a:off x="0" y="1398425"/>
            <a:ext cx="3063300" cy="3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Chennai Super Kings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(80%),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Mumbai Indians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(76%), and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Kolkata Knight Riders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(73.91%) show a strong home dominance.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contrast,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Delhi Daredevils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(28.57%) and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Kings XI Punjab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(46.15%) show minimal home-ground advantage, indicating inconsistency or inability to capitalize on local conditions.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5" name="Google Shape;565;p61"/>
          <p:cNvSpPr txBox="1"/>
          <p:nvPr/>
        </p:nvSpPr>
        <p:spPr>
          <a:xfrm>
            <a:off x="1686000" y="347450"/>
            <a:ext cx="5678100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970"/>
              <a:buFont typeface="League Spartan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GROUND PERFORMANCE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2"/>
          <p:cNvSpPr txBox="1"/>
          <p:nvPr/>
        </p:nvSpPr>
        <p:spPr>
          <a:xfrm>
            <a:off x="1758024" y="342900"/>
            <a:ext cx="36969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263"/>
              </a:buClr>
              <a:buSzPts val="2408"/>
              <a:buFont typeface="League Spartan"/>
              <a:buNone/>
            </a:pPr>
            <a:r>
              <a:rPr b="1" i="0" lang="en" sz="3007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2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1" name="Google Shape;571;p62"/>
          <p:cNvGrpSpPr/>
          <p:nvPr/>
        </p:nvGrpSpPr>
        <p:grpSpPr>
          <a:xfrm>
            <a:off x="633425" y="1059400"/>
            <a:ext cx="5946076" cy="3624337"/>
            <a:chOff x="0" y="0"/>
            <a:chExt cx="13334999" cy="8128139"/>
          </a:xfrm>
        </p:grpSpPr>
        <p:sp>
          <p:nvSpPr>
            <p:cNvPr id="572" name="Google Shape;572;p62"/>
            <p:cNvSpPr/>
            <p:nvPr/>
          </p:nvSpPr>
          <p:spPr>
            <a:xfrm>
              <a:off x="0" y="0"/>
              <a:ext cx="10668000" cy="1788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chemeClr val="accent5"/>
                </a:gs>
                <a:gs pos="72000">
                  <a:schemeClr val="lt1"/>
                </a:gs>
                <a:gs pos="100000">
                  <a:schemeClr val="lt1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2"/>
            <p:cNvSpPr txBox="1"/>
            <p:nvPr/>
          </p:nvSpPr>
          <p:spPr>
            <a:xfrm>
              <a:off x="116793" y="112644"/>
              <a:ext cx="8587200" cy="16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475" lIns="42475" spcFirstLastPara="1" rIns="42475" wrap="square" tIns="4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5"/>
                <a:buFont typeface="Calibri"/>
                <a:buNone/>
              </a:pP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Maximize ROI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by investing in: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Indian bowlers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like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Bumrah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Chahal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Unadkat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– available throughout the season, deliver consistent results.</a:t>
              </a:r>
              <a:endParaRPr sz="11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5302" lvl="1" marL="10193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rgbClr val="000000"/>
                </a:buClr>
                <a:buSzPts val="892"/>
                <a:buFont typeface="Calibri"/>
                <a:buNone/>
              </a:pPr>
              <a:r>
                <a:t/>
              </a:r>
              <a:endParaRPr b="0" i="0" sz="89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2"/>
            <p:cNvSpPr/>
            <p:nvPr/>
          </p:nvSpPr>
          <p:spPr>
            <a:xfrm>
              <a:off x="893444" y="2113280"/>
              <a:ext cx="10668000" cy="1788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chemeClr val="accent5"/>
                </a:gs>
                <a:gs pos="72000">
                  <a:schemeClr val="lt1"/>
                </a:gs>
                <a:gs pos="100000">
                  <a:schemeClr val="lt1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2"/>
            <p:cNvSpPr txBox="1"/>
            <p:nvPr/>
          </p:nvSpPr>
          <p:spPr>
            <a:xfrm>
              <a:off x="945817" y="2165653"/>
              <a:ext cx="8507400" cy="16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475" lIns="42475" spcFirstLastPara="1" rIns="42475" wrap="square" tIns="4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5"/>
                <a:buFont typeface="Calibri"/>
                <a:buNone/>
              </a:pP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Emerging talents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with high strike rates or wicket averages – e.g.,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SN Khan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Ashish Reddy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JD Unadkat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2"/>
            <p:cNvSpPr/>
            <p:nvPr/>
          </p:nvSpPr>
          <p:spPr>
            <a:xfrm>
              <a:off x="1773548" y="4226565"/>
              <a:ext cx="10904700" cy="1788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chemeClr val="accent5"/>
                </a:gs>
                <a:gs pos="72000">
                  <a:schemeClr val="lt1"/>
                </a:gs>
                <a:gs pos="100000">
                  <a:schemeClr val="lt1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2"/>
            <p:cNvSpPr txBox="1"/>
            <p:nvPr/>
          </p:nvSpPr>
          <p:spPr>
            <a:xfrm>
              <a:off x="1825928" y="4278933"/>
              <a:ext cx="8520900" cy="16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475" lIns="42475" spcFirstLastPara="1" rIns="42475" wrap="square" tIns="4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5"/>
                <a:buFont typeface="Calibri"/>
                <a:buNone/>
              </a:pP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Avoid overbidding for foreign stars with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limited availability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(e.g., Starc, Morris); prefer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cost-effective Indian alternatives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.( Arshdeep Singh, T Natrajan)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1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2"/>
            <p:cNvSpPr/>
            <p:nvPr/>
          </p:nvSpPr>
          <p:spPr>
            <a:xfrm>
              <a:off x="2666999" y="6339839"/>
              <a:ext cx="10668000" cy="1788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chemeClr val="accent5"/>
                </a:gs>
                <a:gs pos="72000">
                  <a:schemeClr val="lt1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2"/>
            <p:cNvSpPr txBox="1"/>
            <p:nvPr/>
          </p:nvSpPr>
          <p:spPr>
            <a:xfrm>
              <a:off x="2719372" y="6392212"/>
              <a:ext cx="8507400" cy="16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475" lIns="42475" spcFirstLastPara="1" rIns="42475" wrap="square" tIns="4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5"/>
                <a:buFont typeface="Calibri"/>
                <a:buNone/>
              </a:pP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Focus on </a:t>
              </a:r>
              <a:r>
                <a:rPr b="1"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multi-skill players</a:t>
              </a:r>
              <a:r>
                <a:rPr lang="en" sz="111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(e.g., Jadeja, Pandya) to cover multiple roles and save on squad depth costs.</a:t>
              </a:r>
              <a:endParaRPr sz="11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2"/>
            <p:cNvSpPr/>
            <p:nvPr/>
          </p:nvSpPr>
          <p:spPr>
            <a:xfrm>
              <a:off x="9505696" y="1369567"/>
              <a:ext cx="1162200" cy="11622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chemeClr val="accent6"/>
            </a:solidFill>
            <a:ln cap="flat" cmpd="sng" w="4250">
              <a:solidFill>
                <a:srgbClr val="CFD7E7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2"/>
            <p:cNvSpPr txBox="1"/>
            <p:nvPr/>
          </p:nvSpPr>
          <p:spPr>
            <a:xfrm>
              <a:off x="9767214" y="1369567"/>
              <a:ext cx="639300" cy="8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75" lIns="20375" spcFirstLastPara="1" rIns="20375" wrap="square" tIns="20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5"/>
                <a:buFont typeface="Calibri"/>
                <a:buNone/>
              </a:pPr>
              <a:r>
                <a:t/>
              </a:r>
              <a:endParaRPr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62"/>
            <p:cNvSpPr/>
            <p:nvPr/>
          </p:nvSpPr>
          <p:spPr>
            <a:xfrm>
              <a:off x="10399140" y="3482847"/>
              <a:ext cx="1162200" cy="11622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chemeClr val="accent6"/>
            </a:solidFill>
            <a:ln cap="flat" cmpd="sng" w="4250">
              <a:solidFill>
                <a:schemeClr val="accent6">
                  <a:alpha val="89800"/>
                </a:scheme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2"/>
            <p:cNvSpPr txBox="1"/>
            <p:nvPr/>
          </p:nvSpPr>
          <p:spPr>
            <a:xfrm>
              <a:off x="10660658" y="3482847"/>
              <a:ext cx="639300" cy="8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75" lIns="20375" spcFirstLastPara="1" rIns="20375" wrap="square" tIns="20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5"/>
                <a:buFont typeface="Calibri"/>
                <a:buNone/>
              </a:pPr>
              <a:r>
                <a:t/>
              </a:r>
              <a:endParaRPr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2"/>
            <p:cNvSpPr/>
            <p:nvPr/>
          </p:nvSpPr>
          <p:spPr>
            <a:xfrm>
              <a:off x="11279251" y="5596128"/>
              <a:ext cx="1162200" cy="11622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chemeClr val="accent6"/>
            </a:solidFill>
            <a:ln cap="flat" cmpd="sng" w="4250">
              <a:solidFill>
                <a:schemeClr val="accent6">
                  <a:alpha val="89800"/>
                </a:scheme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7835" rotWithShape="0" dir="5400000" dist="10255">
                <a:srgbClr val="000000">
                  <a:alpha val="34900"/>
                </a:srgbClr>
              </a:outerShdw>
            </a:effectLst>
          </p:spPr>
          <p:txBody>
            <a:bodyPr anchorCtr="0" anchor="ctr" bIns="40775" lIns="40775" spcFirstLastPara="1" rIns="40775" wrap="square" tIns="4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2"/>
            <p:cNvSpPr txBox="1"/>
            <p:nvPr/>
          </p:nvSpPr>
          <p:spPr>
            <a:xfrm>
              <a:off x="11540769" y="5596128"/>
              <a:ext cx="639300" cy="8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75" lIns="20375" spcFirstLastPara="1" rIns="20375" wrap="square" tIns="20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5"/>
                <a:buFont typeface="Calibri"/>
                <a:buNone/>
              </a:pPr>
              <a:r>
                <a:t/>
              </a:r>
              <a:endParaRPr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